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0362895" cy="5212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941832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2563EB"/>
                </a:solidFill>
              </a:defRPr>
            </a:pPr>
            <a:r>
              <a:t>BACSE291 — INNOVATIVE DESIGN PROJECT (AY 2026–2027)</a:t>
            </a:r>
          </a:p>
          <a:p>
            <a:pPr>
              <a:spcBef>
                <a:spcPts val="1000"/>
              </a:spcBef>
              <a:defRPr sz="3200" b="1">
                <a:solidFill>
                  <a:srgbClr val="0F172A"/>
                </a:solidFill>
              </a:defRPr>
            </a:pPr>
            <a:r>
              <a:t>Smart Acoustic Leak Detector</a:t>
            </a:r>
          </a:p>
          <a:p>
            <a:pPr>
              <a:spcBef>
                <a:spcPts val="600"/>
              </a:spcBef>
              <a:defRPr sz="1600">
                <a:solidFill>
                  <a:srgbClr val="0D9488"/>
                </a:solidFill>
              </a:defRPr>
            </a:pPr>
            <a:r>
              <a:t>Acoustic-Vibrational Micro-Leak and Infrastructure Integrity Monitor Using Edge AI (TinyML)</a:t>
            </a:r>
          </a:p>
          <a:p>
            <a:pPr>
              <a:spcBef>
                <a:spcPts val="1600"/>
              </a:spcBef>
              <a:defRPr sz="1300" b="1">
                <a:solidFill>
                  <a:srgbClr val="64748B"/>
                </a:solidFill>
              </a:defRPr>
            </a:pPr>
            <a:r>
              <a:t>Review II: Initial Design, System Architecture &amp; 20% Prototype Milestone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931920"/>
            <a:ext cx="9418320" cy="3657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418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Student Team: B.Tech Computer Science &amp; Engineering</a:t>
            </a:r>
          </a:p>
          <a:p>
            <a:pPr>
              <a:spcBef>
                <a:spcPts val="300"/>
              </a:spcBef>
              <a:defRPr sz="1100">
                <a:solidFill>
                  <a:srgbClr val="64748B"/>
                </a:solidFill>
              </a:defRPr>
            </a:pPr>
            <a:r>
              <a:t>Team Members: Atharv Deshpande &amp; Project Partners | Specialization: AI / Core CSE</a:t>
            </a:r>
          </a:p>
          <a:p>
            <a:pPr>
              <a:spcBef>
                <a:spcPts val="600"/>
              </a:spcBef>
              <a:defRPr sz="1100" b="1">
                <a:solidFill>
                  <a:srgbClr val="0F172A"/>
                </a:solidFill>
              </a:defRPr>
            </a:pPr>
            <a:r>
              <a:t>Project Guide: Assigned Faculty Mentor, Department of Computer Science &amp;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Presentation Agenda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01. Introduction &amp; Problem Statement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The municipal water loss challenge &amp; limitations of current inspection.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46304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7276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02. Literature Survey &amp; Baselines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Analysis of acoustic propagation, SCADA mass-balance, and IoT loggers.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69748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0720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03. Challenges &amp; Research Gap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Bandwidth, power, latency, and the need for autonomous edge mitigation.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69748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280720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04. Project Objectives &amp; Scope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Concrete, measurable goals across hardware, DSP, TinyML, and actuation.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93192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05. Methodology &amp; System Architecture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Multi-tier design, FreeRTOS dual-core task segregation, and hardware BOM.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93192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404164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06. Component &amp; Tool Justification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Technical trade-offs: ESP32-S3 vs RPi/Arduino; Piezo vs MEMS sensors.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16636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27608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07. Initial Implementation (~20% Prototype)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Demonstration of live acoustic ingestion, DSP spectrograms, and state logic.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5166360"/>
            <a:ext cx="5120640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5276088"/>
            <a:ext cx="4754880" cy="8229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08. Project Planning &amp; Individual Roles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Work Breakdown Structure, milestones across Fall/Winter, and defense matrix.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Introduction: The Non-Revenue Water (NRW) Crisis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290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691640"/>
            <a:ext cx="29718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The Global &amp; Municipal Challenge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30% – 50% Water Loss: </a:t>
            </a:r>
            <a:r>
              <a:rPr b="0">
                <a:solidFill>
                  <a:srgbClr val="64748B"/>
                </a:solidFill>
              </a:rPr>
              <a:t>Municipal distribution systems lose massive fluid volumes to Non-Revenue Water (NRW) before reaching consumers.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Invisible Micro-Cracks: </a:t>
            </a:r>
            <a:r>
              <a:rPr b="0">
                <a:solidFill>
                  <a:srgbClr val="64748B"/>
                </a:solidFill>
              </a:rPr>
              <a:t>Pressurized pipeline leaks start as sub-millimeter fissures that remain structurally undetected for months.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Severe Cascading Damage: </a:t>
            </a:r>
            <a:r>
              <a:rPr b="0">
                <a:solidFill>
                  <a:srgbClr val="64748B"/>
                </a:solidFill>
              </a:rPr>
              <a:t>Unchecked micro-leaks cause soil erosion, catastrophic road cave-ins, and severe building foundation damage.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463040"/>
            <a:ext cx="34290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691640"/>
            <a:ext cx="29718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0F172A"/>
                </a:solidFill>
              </a:defRPr>
            </a:pPr>
            <a:r>
              <a:t>Failure of Conventional Approaches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Manual Acoustic Patrols: </a:t>
            </a:r>
            <a:r>
              <a:rPr b="0">
                <a:solidFill>
                  <a:srgbClr val="64748B"/>
                </a:solidFill>
              </a:rPr>
              <a:t>Technicians use acoustic listening rods periodically; inspection is labor-intensive, human-dependent, and non-continuous.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Cloud-IoT Bandwidth Congestion: </a:t>
            </a:r>
            <a:r>
              <a:rPr b="0">
                <a:solidFill>
                  <a:srgbClr val="64748B"/>
                </a:solidFill>
              </a:rPr>
              <a:t>Streaming raw audio/vibration to cloud platforms consumes ~1.2 GB/day per node, incurring high data costs.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Zero Autonomous Shutoff: </a:t>
            </a:r>
            <a:r>
              <a:rPr b="0">
                <a:solidFill>
                  <a:srgbClr val="64748B"/>
                </a:solidFill>
              </a:rPr>
              <a:t>Existing loggers only record data; they cannot physically isolate the leak during network outages.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1463040"/>
            <a:ext cx="342900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83880" y="1691640"/>
            <a:ext cx="29718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The Edge AI (TinyML) Breakthrough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In-Situ Processing: </a:t>
            </a:r>
            <a:r>
              <a:rPr b="0">
                <a:solidFill>
                  <a:srgbClr val="64748B"/>
                </a:solidFill>
              </a:rPr>
              <a:t>Shifting intelligence directly onto sub-watt dual-core microcontrollers eliminates raw audio streaming completely.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Sub-200ms Latency: </a:t>
            </a:r>
            <a:r>
              <a:rPr b="0">
                <a:solidFill>
                  <a:srgbClr val="64748B"/>
                </a:solidFill>
              </a:rPr>
              <a:t>On-device quantized neural inference detects leak acoustic signatures in milliseconds.</a:t>
            </a:r>
          </a:p>
          <a:p>
            <a:pPr>
              <a:spcBef>
                <a:spcPts val="800"/>
              </a:spcBef>
              <a:defRPr sz="1000" b="1">
                <a:solidFill>
                  <a:srgbClr val="0F172A"/>
                </a:solidFill>
              </a:defRPr>
            </a:pPr>
            <a:r>
              <a:t>• Autonomous Isolation: </a:t>
            </a:r>
            <a:r>
              <a:rPr b="0">
                <a:solidFill>
                  <a:srgbClr val="64748B"/>
                </a:solidFill>
              </a:rPr>
              <a:t>Direct GPIO-triggered solenoid shutoff valve prevents catastrophic flooding even if Wi-Fi fails entirely.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Literature Survey: Comparative Analysis of Existing Baselines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72768"/>
            <a:ext cx="10332720" cy="12344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Acoustic Wave Propagation in Plastic Pipes  |  </a:t>
            </a:r>
            <a:r>
              <a:rPr sz="1100" b="0">
                <a:solidFill>
                  <a:srgbClr val="2563EB"/>
                </a:solidFill>
              </a:rPr>
              <a:t>Hunaidi et al. (National Research Council Canada)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• Approach: Analyzed acoustic vibration attenuation in PVC and MDPE water distribution pipes. Key Finding: Demonstrated that high frequencies (&gt;2 kHz) attenuate rapidly in plastic. Highlighted that leak energy concentrates in 1–5 kHz bands.</a:t>
            </a:r>
          </a:p>
          <a:p>
            <a:pPr>
              <a:spcBef>
                <a:spcPts val="300"/>
              </a:spcBef>
              <a:defRPr sz="950" b="1">
                <a:solidFill>
                  <a:srgbClr val="B91C1C"/>
                </a:solidFill>
              </a:defRPr>
            </a:pPr>
            <a:r>
              <a:t>• Research Limitation: Focused on offline acoustic correlation with bulky lab equipment; no real-time embedded edge classification.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063240"/>
            <a:ext cx="106984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172968"/>
            <a:ext cx="10332720" cy="12344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District Metering Area (DMA) Mass-Balance  |  </a:t>
            </a:r>
            <a:r>
              <a:rPr sz="1100" b="0">
                <a:solidFill>
                  <a:srgbClr val="2563EB"/>
                </a:solidFill>
              </a:rPr>
              <a:t>SCADA Hydraulic Flow-Balance Systems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• Approach: Utilizes electromagnetic flow meters at district inlet/outlet boundaries to monitor net water volume discrepancies. Key Finding: Reliable for macro-ruptures and municipal-level volumetric accounting.</a:t>
            </a:r>
          </a:p>
          <a:p>
            <a:pPr>
              <a:spcBef>
                <a:spcPts val="300"/>
              </a:spcBef>
              <a:defRPr sz="950" b="1">
                <a:solidFill>
                  <a:srgbClr val="B91C1C"/>
                </a:solidFill>
              </a:defRPr>
            </a:pPr>
            <a:r>
              <a:t>• Research Limitation: Completely blind to micro-cracks (&lt;10% volume loss); cannot localize faults or provide fast mechanical shutoff.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73168"/>
            <a:ext cx="10332720" cy="123444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200" b="1">
                <a:solidFill>
                  <a:srgbClr val="0F172A"/>
                </a:solidFill>
              </a:defRPr>
            </a:pPr>
            <a:r>
              <a:t>Cloud-Connected Acoustic IoT Streamers  |  </a:t>
            </a:r>
            <a:r>
              <a:rPr sz="1100" b="0">
                <a:solidFill>
                  <a:srgbClr val="2563EB"/>
                </a:solidFill>
              </a:rPr>
              <a:t>Commercial Acoustic Loggers (Gutermann, Sewerin)</a:t>
            </a:r>
          </a:p>
          <a:p>
            <a:pPr>
              <a:spcBef>
                <a:spcPts val="300"/>
              </a:spcBef>
              <a:defRPr sz="950">
                <a:solidFill>
                  <a:srgbClr val="64748B"/>
                </a:solidFill>
              </a:defRPr>
            </a:pPr>
            <a:r>
              <a:t>• Approach: Deployed vibration sensors that upload recorded audio clips or telemetry via GSM/LoRaWAN to cloud servers. Key Finding: Enables map-based leak dashboards across city zones.</a:t>
            </a:r>
          </a:p>
          <a:p>
            <a:pPr>
              <a:spcBef>
                <a:spcPts val="300"/>
              </a:spcBef>
              <a:defRPr sz="950" b="1">
                <a:solidFill>
                  <a:srgbClr val="B91C1C"/>
                </a:solidFill>
              </a:defRPr>
            </a:pPr>
            <a:r>
              <a:t>• Research Limitation: Excessive unit cost (₹1,00,000+); high SIM/cellular bandwidth overhead; high latency (hours); no automated emergency actuation.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Challenges &amp; Identified Research Gap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5720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1">
                <a:solidFill>
                  <a:srgbClr val="0F172A"/>
                </a:solidFill>
              </a:defRPr>
            </a:pPr>
            <a:r>
              <a:t>Identified Technical Challenges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Acoustic Impedance Mismatch: </a:t>
            </a:r>
            <a:r>
              <a:rPr b="0">
                <a:solidFill>
                  <a:srgbClr val="64748B"/>
                </a:solidFill>
              </a:rPr>
              <a:t>Airborne microphones (like standard MEMS) clamped to pipe exteriors capture room speech and ambient noise rather than fluid structural vibrations.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Edge Computational Constraints: </a:t>
            </a:r>
            <a:r>
              <a:rPr b="0">
                <a:solidFill>
                  <a:srgbClr val="64748B"/>
                </a:solidFill>
              </a:rPr>
              <a:t>Standard microcontrollers lack RAM/compute for heavy audio models; running inference requires strict int8 quantization and efficient DSP framing.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Physical Sound Velocity Realities: </a:t>
            </a:r>
            <a:r>
              <a:rPr b="0">
                <a:solidFill>
                  <a:srgbClr val="64748B"/>
                </a:solidFill>
              </a:rPr>
              <a:t>Sound in water travels at ~1,480 m/s (6.7 ms per 10m). Naive Wi-Fi/NTP clock subtraction suffers 10-50ms jitter, demanding frequency-domain cross-correlation.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• Network Outage Vulnerability: </a:t>
            </a:r>
            <a:r>
              <a:rPr b="0">
                <a:solidFill>
                  <a:srgbClr val="64748B"/>
                </a:solidFill>
              </a:rPr>
              <a:t>Cloud-dependent architectures fail to isolate leaks during connectivity dropouts, leading to continuous flooding.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691640"/>
            <a:ext cx="4572000" cy="429768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400" b="1">
                <a:solidFill>
                  <a:srgbClr val="2563EB"/>
                </a:solidFill>
              </a:defRPr>
            </a:pPr>
            <a:r>
              <a:t>The Research Gap Our Project Bridges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Ultra-Low Cost Accessibility (&lt;₹2,500): </a:t>
            </a:r>
            <a:r>
              <a:rPr b="0">
                <a:solidFill>
                  <a:srgbClr val="64748B"/>
                </a:solidFill>
              </a:rPr>
              <a:t>Bridging the massive price chasm between inaccessible ₹1,00,000+ proprietary industrial loggers and basic non-intelligent sensors.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Non-Invasive Structural Coupling: </a:t>
            </a:r>
            <a:r>
              <a:rPr b="0">
                <a:solidFill>
                  <a:srgbClr val="64748B"/>
                </a:solidFill>
              </a:rPr>
              <a:t>Engineering a contact piezoelectric interface with charge amplification that senses pipe turbulence without pipe drilling or fluid contamination.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True Edge AI Autonomy (TinyML): </a:t>
            </a:r>
            <a:r>
              <a:rPr b="0">
                <a:solidFill>
                  <a:srgbClr val="64748B"/>
                </a:solidFill>
              </a:rPr>
              <a:t>Quantized CNN running 100% on-device (ESP32-S3), achieving sub-200ms classification of micro-leaks vs. normal flow vs. room noise.</a:t>
            </a:r>
          </a:p>
          <a:p>
            <a:pPr>
              <a:spcBef>
                <a:spcPts val="700"/>
              </a:spcBef>
              <a:defRPr sz="1000" b="1">
                <a:solidFill>
                  <a:srgbClr val="0F172A"/>
                </a:solidFill>
              </a:defRPr>
            </a:pPr>
            <a:r>
              <a:t>✔ Integrated Mechanical Actuation: </a:t>
            </a:r>
            <a:r>
              <a:rPr b="0">
                <a:solidFill>
                  <a:srgbClr val="64748B"/>
                </a:solidFill>
              </a:rPr>
              <a:t>Closing the loop between detection and mitigation: immediate sub-second motorized shutoff before structural damage occurs.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Project Objectives &amp; Scope Boundaries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3619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1. Non-Invasive Sensing Hardware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Design a non-intrusive clamp-on sensor unit using contact piezoelectric transducers paired with an LM358 active charge amplifier and &gt;500 Hz high-pass analog filter to isolate pipe vibration.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42316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9631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2. Embedded DSP Feature Extraction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Implement an onboard 16 kHz sampling and signal processing pipeline generating 2D Log-Mel Spectrograms tuned specifically to 1–8 kHz fluid turbulence frequencies.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38328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45643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3. Edge AI (TinyML) Classification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Train, post-training quantize (int8), and execute a lightweight CNN on the ESP32-S3 via TFLite Micro, targeting &gt;90% classification accuracy with &lt;200ms latency and &lt;64KB SRAM usage.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34340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1655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4. Autonomous Fail-Safe Actuation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Interface a 5V optoisolated relay module to trigger a 12V motorized solenoid shutoff valve within 1 second of confirmed leak classification without needing cloud commands.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303520"/>
            <a:ext cx="1069848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376672"/>
            <a:ext cx="10332720" cy="73152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00" b="1">
                <a:solidFill>
                  <a:srgbClr val="2563EB"/>
                </a:solidFill>
              </a:defRPr>
            </a:pPr>
            <a:r>
              <a:t>5. Low-Bandwidth Wireless Telemetry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</a:defRPr>
            </a:pPr>
            <a:r>
              <a:t>Transmit lightweight MQTT JSON event packets over Wi-Fi only upon state transitions, achieving &gt;99% bandwidth savings over raw audio streaming.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Proposed Methodology &amp; System Architecture</a:t>
            </a:r>
          </a:p>
        </p:txBody>
      </p:sp>
      <p:pic>
        <p:nvPicPr>
          <p:cNvPr id="4" name="Picture 3" descr="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498079" cy="426149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412480" y="1371600"/>
            <a:ext cx="301752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95360" y="1554480"/>
            <a:ext cx="2651760" cy="448056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System Architecture Highlights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FreeRTOS Dual-Core: </a:t>
            </a:r>
            <a:r>
              <a:rPr b="0">
                <a:solidFill>
                  <a:srgbClr val="64748B"/>
                </a:solidFill>
              </a:rPr>
              <a:t>Core 0 handles 16 kHz DMA sampling &amp; DSP FFT; Core 1 handles TFLite Micro inference &amp; MQTT dispatch.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Component Trade-Off: </a:t>
            </a:r>
            <a:r>
              <a:rPr b="0">
                <a:solidFill>
                  <a:srgbClr val="64748B"/>
                </a:solidFill>
              </a:rPr>
              <a:t>ESP32-S3 chosen over Raspberry Pi (₹650 vs ₹4,500; 500mW vs 5W) and Arduino Uno (has vector instructions &amp; SRAM).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Sensor Coupling: </a:t>
            </a:r>
            <a:r>
              <a:rPr b="0">
                <a:solidFill>
                  <a:srgbClr val="64748B"/>
                </a:solidFill>
              </a:rPr>
              <a:t>Piezoelectric contact transducer selected over airborne MEMS to eliminate room background chatter.</a:t>
            </a:r>
          </a:p>
          <a:p>
            <a:pPr>
              <a:spcBef>
                <a:spcPts val="600"/>
              </a:spcBef>
              <a:defRPr sz="900" b="1">
                <a:solidFill>
                  <a:srgbClr val="0D9488"/>
                </a:solidFill>
              </a:defRPr>
            </a:pPr>
            <a:r>
              <a:t>• Cost Efficiency: </a:t>
            </a:r>
            <a:r>
              <a:rPr b="0">
                <a:solidFill>
                  <a:srgbClr val="64748B"/>
                </a:solidFill>
              </a:rPr>
              <a:t>Complete edge node built under ₹1,800 vs ₹1,00,000+ proprietary commercial loggers.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563EB"/>
                </a:solidFill>
              </a:defRPr>
            </a:pPr>
            <a:r>
              <a:t>BACSE291 | INNOVATIVE DESIGN PROJECT | REVIEW II</a:t>
            </a:r>
          </a:p>
          <a:p>
            <a:pPr>
              <a:spcBef>
                <a:spcPts val="400"/>
              </a:spcBef>
              <a:defRPr sz="2200" b="1">
                <a:solidFill>
                  <a:srgbClr val="0F172A"/>
                </a:solidFill>
              </a:defRPr>
            </a:pPr>
            <a:r>
              <a:t>Results: Initial Implementation (~20% Completion Milestone)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493776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572000" cy="4572000"/>
          </a:xfrm>
          <a:prstGeom prst="rect">
            <a:avLst/>
          </a:prstGeom>
          <a:noFill/>
        </p:spPr>
        <p:txBody>
          <a:bodyPr wrap="square" tIns="0" lIns="0" rIns="0" bIns="0">
            <a:spAutoFit/>
          </a:bodyPr>
          <a:lstStyle/>
          <a:p>
            <a:pPr>
              <a:defRPr sz="1300" b="1">
                <a:solidFill>
                  <a:srgbClr val="2563EB"/>
                </a:solidFill>
              </a:defRPr>
            </a:pPr>
            <a:r>
              <a:t>20% Prototype Deliverables Completed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16 kHz Audio DMA Sampling Pipeline: </a:t>
            </a:r>
            <a:r>
              <a:rPr b="0">
                <a:solidFill>
                  <a:srgbClr val="64748B"/>
                </a:solidFill>
              </a:rPr>
              <a:t>Implemented circular double buffering and Hanning windowing to ingest continuous structural acoustic vibrations on ESP32 Core 0.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Real-Time Log-Mel Spectrogram Engine: </a:t>
            </a:r>
            <a:r>
              <a:rPr b="0">
                <a:solidFill>
                  <a:srgbClr val="64748B"/>
                </a:solidFill>
              </a:rPr>
              <a:t>Engineered 32-band filterbank conversion scaled to 0.5–8 kHz fluid turbulence frequencies, generating 2D feature maps.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Empirical Spectral Energy Elevation: </a:t>
            </a:r>
            <a:r>
              <a:rPr b="0">
                <a:solidFill>
                  <a:srgbClr val="64748B"/>
                </a:solidFill>
              </a:rPr>
              <a:t>Experimental frequency sweeps confirm &gt;30 dB spectral density surge in 1.5–4.5 kHz band during needle-valve micro-cracks vs. laminar flow.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Dual-Core FreeRTOS Task Architecture: </a:t>
            </a:r>
            <a:r>
              <a:rPr b="0">
                <a:solidFill>
                  <a:srgbClr val="64748B"/>
                </a:solidFill>
              </a:rPr>
              <a:t>Decoupled sampling/DSP (Core 0) from TinyML inference and actuation state machines (Core 1).</a:t>
            </a:r>
          </a:p>
          <a:p>
            <a:pPr>
              <a:spcBef>
                <a:spcPts val="700"/>
              </a:spcBef>
              <a:defRPr sz="950" b="1">
                <a:solidFill>
                  <a:srgbClr val="0F172A"/>
                </a:solidFill>
              </a:defRPr>
            </a:pPr>
            <a:r>
              <a:t>✔ Sub-Second Solenoid Shutoff Logic: </a:t>
            </a:r>
            <a:r>
              <a:rPr b="0">
                <a:solidFill>
                  <a:srgbClr val="64748B"/>
                </a:solidFill>
              </a:rPr>
              <a:t>Validated fail-safe GPIO relay trigger executing in &lt;50ms upon simulated anomaly condition.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5486400" cy="49377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5544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F172A"/>
                </a:solidFill>
              </a:defRPr>
            </a:pPr>
            <a:r>
              <a:t>Empirical Proof: Laminar Flow vs. Micro-Leak Turbulence</a:t>
            </a:r>
          </a:p>
        </p:txBody>
      </p:sp>
      <p:pic>
        <p:nvPicPr>
          <p:cNvPr id="8" name="Picture 7" descr="spectra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2011680"/>
            <a:ext cx="5212080" cy="1737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846320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i="1">
                <a:solidFill>
                  <a:srgbClr val="64748B"/>
                </a:solidFill>
              </a:defRPr>
            </a:pPr>
            <a:r>
              <a:t>Spectrogram Feature Verification: Notice the prominent energy surge (yellow/orange bands) across 1.5–5 kHz in the right plot, reflecting continuous hydrodynamic turbulence used as the input tensor for our TinyML model.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