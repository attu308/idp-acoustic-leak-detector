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uments.worldbank.org/en/publication/documents-reports/documentdetail/659421468162125557/the-challenge-of-reducing-non-revenue-water-nrw-in-developing-countries-a-look-at-performance-based-service-contracting" TargetMode="External"/><Relationship Id="rId3" Type="http://schemas.openxmlformats.org/officeDocument/2006/relationships/hyperlink" Target="https://www.niti.gov.in/report-and-publication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S0003-682X(99)00013-4" TargetMode="External"/><Relationship Id="rId3" Type="http://schemas.openxmlformats.org/officeDocument/2006/relationships/hyperlink" Target="https://doi.org/10.1007/s11269-015-1066-z" TargetMode="External"/><Relationship Id="rId4" Type="http://schemas.openxmlformats.org/officeDocument/2006/relationships/hyperlink" Target="https://doi.org/10.1016/j.measurement.2021.110094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BACSE291 — INNOVATIVE DESIGN PROJECT (AY 2026–2027)</a:t>
            </a:r>
          </a:p>
          <a:p>
            <a:pPr>
              <a:spcBef>
                <a:spcPts val="1000"/>
              </a:spcBef>
              <a:defRPr sz="3200" b="1">
                <a:solidFill>
                  <a:srgbClr val="0F172A"/>
                </a:solidFill>
              </a:defRPr>
            </a:pPr>
            <a:r>
              <a:t>Smart Acoustic Leak Detector</a:t>
            </a:r>
          </a:p>
          <a:p>
            <a:pPr>
              <a:spcBef>
                <a:spcPts val="600"/>
              </a:spcBef>
              <a:defRPr sz="1600">
                <a:solidFill>
                  <a:srgbClr val="0D9488"/>
                </a:solidFill>
              </a:defRPr>
            </a:pPr>
            <a:r>
              <a:t>Acoustic-Vibrational Micro-Leak and Infrastructure Integrity Monitor Using Edge AI (TinyML)</a:t>
            </a:r>
          </a:p>
          <a:p>
            <a:pPr>
              <a:spcBef>
                <a:spcPts val="1600"/>
              </a:spcBef>
              <a:defRPr sz="1300" b="1">
                <a:solidFill>
                  <a:srgbClr val="64748B"/>
                </a:solidFill>
              </a:defRPr>
            </a:pPr>
            <a:r>
              <a:t>Review II: Initial Design, System Architecture &amp; 20% Prototype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9418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69080"/>
            <a:ext cx="9418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Student Team (SCOPE — School of Computer Science &amp; Engineering):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• Atharv Deshpande (25BAI1337)   |   • Ojas Sugur (25BAI1222)   |   • Vishwajeet Shelar (25BAI1581)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Program: B.Tech Computer Science &amp; Engineering (Specialization in AI &amp; ML)</a:t>
            </a:r>
          </a:p>
          <a:p>
            <a:pPr>
              <a:spcBef>
                <a:spcPts val="500"/>
              </a:spcBef>
              <a:defRPr sz="1100" b="1">
                <a:solidFill>
                  <a:srgbClr val="0F172A"/>
                </a:solidFill>
              </a:defRPr>
            </a:pPr>
            <a:r>
              <a:t>Project Guide: Prof. Sujithra Kanmani, School of Computer Science &amp; Engineering (SCOPE)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BACSE291 | INNOVATIVE DESIGN PROJECT | REVIEW II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Presentation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4754880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01. Introduction &amp; Problem Statement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The municipal water loss challenge &amp; limitations of current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72768"/>
            <a:ext cx="4754880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02. Literature Survey &amp; Baselines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Analysis of acoustic propagation, SCADA mass-balance, and IoT loggers.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4754880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03. Challenges &amp; Research Gap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Bandwidth, power, latency, and the need for autonomous edge mitigation.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974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807208"/>
            <a:ext cx="4754880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04. Project Objectives &amp; Scope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Concrete, measurable goals across hardware, DSP, TinyML, and actuation.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4754880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05. Methodology &amp; System Architecture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Multi-tier design, FreeRTOS dual-core task segregation, and hardware BOM.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41648"/>
            <a:ext cx="4754880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06. Component &amp; Tool Justification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Technical trade-offs: ESP32-S3 vs RPi/Arduino; Piezo vs MEMS sensors.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4754880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07. Initial Implementation (~20% Prototype)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Demonstration of live acoustic ingestion, DSP spectrograms, and state logic.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1663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5276088"/>
            <a:ext cx="4754880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08. Project Planning &amp; Individual Roles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Work Breakdown Structure, milestones across Fall/Winter, and defense matrix.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BACSE291 | INNOVATIVE DESIGN PROJECT | REVIEW II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Introduction: The Non-Revenue Water (NRW)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63240" cy="3840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Global Problem (World Bank)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32 Billion m³/yr Physical Loss: </a:t>
            </a:r>
            <a:r>
              <a:rPr b="0">
                <a:solidFill>
                  <a:srgbClr val="64748B"/>
                </a:solidFill>
              </a:rPr>
              <a:t>Over 32 billion cubic meters of treated water leak annually from distribution networks worldwide (Kingdom et al., World Bank).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$14 Billion Annual Cost: </a:t>
            </a:r>
            <a:r>
              <a:rPr b="0">
                <a:solidFill>
                  <a:srgbClr val="64748B"/>
                </a:solidFill>
              </a:rPr>
              <a:t>Unmetered leaks cost water utilities worldwide &gt;$14B/year in energy, treatment chemicals, and revenue drain.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Severe Cascading Damage: </a:t>
            </a:r>
            <a:r>
              <a:rPr b="0">
                <a:solidFill>
                  <a:srgbClr val="64748B"/>
                </a:solidFill>
              </a:rPr>
              <a:t>Pressurized fissures erode soil sub-bases, leading to ground subsidence, sinkholes, and structural foundation collapse.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08760"/>
            <a:ext cx="3063240" cy="3840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Urban India Crisis (NITI Aayog)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~40% Urban Distribution Loss: </a:t>
            </a:r>
            <a:r>
              <a:rPr b="0">
                <a:solidFill>
                  <a:srgbClr val="64748B"/>
                </a:solidFill>
              </a:rPr>
              <a:t>NITI Aayog Composite Water Management Index (CWMI) reports that ~40% of piped urban water in India is lost due to leakages.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Intermittent Supply Vulnerability: </a:t>
            </a:r>
            <a:r>
              <a:rPr b="0">
                <a:solidFill>
                  <a:srgbClr val="64748B"/>
                </a:solidFill>
              </a:rPr>
              <a:t>Sub-millimeter micro-cracks allow contaminated groundwater suction during non-pressurized supply cycles.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Ineffective Manual Patrols: </a:t>
            </a:r>
            <a:r>
              <a:rPr b="0">
                <a:solidFill>
                  <a:srgbClr val="64748B"/>
                </a:solidFill>
              </a:rPr>
              <a:t>Listening sticks are periodic, human-dependent, and fail to provide preventative 24/7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08760"/>
            <a:ext cx="3063240" cy="3840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The Edge AI (TinyML) Solution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In-Situ Processing: </a:t>
            </a:r>
            <a:r>
              <a:rPr b="0">
                <a:solidFill>
                  <a:srgbClr val="64748B"/>
                </a:solidFill>
              </a:rPr>
              <a:t>Shifting intelligence onto sub-watt dual-core ESP32 microcontrollers eliminates streaming 1.2 GB/day raw audio to the cloud.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Sub-200ms Decision Latency: </a:t>
            </a:r>
            <a:r>
              <a:rPr b="0">
                <a:solidFill>
                  <a:srgbClr val="64748B"/>
                </a:solidFill>
              </a:rPr>
              <a:t>Local 8-bit quantized CNN classifies micro-leak acoustic turbulence within milliseconds.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Offline Fail-Safe Actuation: </a:t>
            </a:r>
            <a:r>
              <a:rPr b="0">
                <a:solidFill>
                  <a:srgbClr val="64748B"/>
                </a:solidFill>
              </a:rPr>
              <a:t>Direct GPIO-triggered solenoid shutoff valve isolates faults even during total Wi-Fi/cellular network outages.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33272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Authoritative Data Sources &amp; Reference Links: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</a:rPr>
              <a:t>1. World Bank Water Sector Report No. 8 (Kingdom et al.): </a:t>
            </a:r>
            <a:r>
              <a:rPr sz="850" u="sng">
                <a:solidFill>
                  <a:srgbClr val="2563EB"/>
                </a:solidFill>
                <a:hlinkClick r:id="rId2"/>
              </a:rPr>
              <a:t>documents.worldbank.org/en/publication/documents-reports/documentdetail/659421468162125557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</a:rPr>
              <a:t>2. NITI Aayog Composite Water Management Index (CWMI): </a:t>
            </a:r>
            <a:r>
              <a:rPr sz="850" u="sng">
                <a:solidFill>
                  <a:srgbClr val="2563EB"/>
                </a:solidFill>
                <a:hlinkClick r:id="rId3"/>
              </a:rPr>
              <a:t>niti.gov.in/report-and-publication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BACSE291 | INNOVATIVE DESIGN PROJECT | REVIEW II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Literature Survey: Comparative Analysis of Baseline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Acoustical Characteristics of Leak Signals in Plastic Water Pipes</a:t>
            </a:r>
            <a:br/>
            <a:r>
              <a:rPr sz="950" b="0">
                <a:solidFill>
                  <a:srgbClr val="64748B"/>
                </a:solidFill>
              </a:rPr>
              <a:t>Source: O. Hunaidi &amp; W. T. Chu (National Research Council Canada), Applied Acoustics, 58(3), 235-254  |  </a:t>
            </a:r>
            <a:r>
              <a:rPr sz="950" b="1" u="sng">
                <a:solidFill>
                  <a:srgbClr val="2563EB"/>
                </a:solidFill>
                <a:hlinkClick r:id="rId2"/>
              </a:rPr>
              <a:t>DOI: https://doi.org/10.1016/S0003-682X(99)00013-4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Approach &amp; Finding: Acoustic frequency propagation and attenuation analysis in PVC and MDPE distribution pipes. Demonstrated that higher frequencies (&gt;2 kHz) attenuate rapidly in plastic pipes; proven that leak turbulence energy concentrates in 1–5 kHz band.</a:t>
            </a:r>
          </a:p>
          <a:p>
            <a:pPr>
              <a:spcBef>
                <a:spcPts val="200"/>
              </a:spcBef>
              <a:defRPr sz="900" b="1">
                <a:solidFill>
                  <a:srgbClr val="B91C1C"/>
                </a:solidFill>
              </a:defRPr>
            </a:pPr>
            <a:r>
              <a:t>• Research Limitation: Focused on offline cross-correlation using bulky laboratory hydrophones and PC DAQ; no real-time embedded edge classifier or automated actuation.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33272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Leakage Fault Detection in a District Metered Area (DMA)</a:t>
            </a:r>
            <a:br/>
            <a:r>
              <a:rPr sz="950" b="0">
                <a:solidFill>
                  <a:srgbClr val="64748B"/>
                </a:solidFill>
              </a:rPr>
              <a:t>Source: D. G. Eliades &amp; M. M. Polycarpou, Water Resources Management / IEEE, 29(10), 3843-3860  |  </a:t>
            </a:r>
            <a:r>
              <a:rPr sz="950" b="1" u="sng">
                <a:solidFill>
                  <a:srgbClr val="2563EB"/>
                </a:solidFill>
                <a:hlinkClick r:id="rId3"/>
              </a:rPr>
              <a:t>DOI: https://doi.org/10.1007/s11269-015-1066-z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Approach &amp; Finding: SCADA boundary flow balancing and cumulative sum (CUSUM) statistical inflow anomaly detection. Effective for macro-level volumetric monitoring and catastrophic municipal trunk-line bursts.</a:t>
            </a:r>
          </a:p>
          <a:p>
            <a:pPr>
              <a:spcBef>
                <a:spcPts val="200"/>
              </a:spcBef>
              <a:defRPr sz="900" b="1">
                <a:solidFill>
                  <a:srgbClr val="B91C1C"/>
                </a:solidFill>
              </a:defRPr>
            </a:pPr>
            <a:r>
              <a:t>• Research Limitation: Macroscopic approach: completely blind to localized weeping micro-cracks (&lt;10% flow drop); incapable of pinpointing leak distance or local valve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Time–Frequency CNNs for Pipeline Acoustic Leak Detection</a:t>
            </a:r>
            <a:br/>
            <a:r>
              <a:rPr sz="950" b="0">
                <a:solidFill>
                  <a:srgbClr val="64748B"/>
                </a:solidFill>
              </a:rPr>
              <a:t>Source: J. Kang et al. (Measurement, 186, 110094) &amp; IEEE Sensors Journal (10.1109/JSEN.2026.3609802)  |  </a:t>
            </a:r>
            <a:r>
              <a:rPr sz="950" b="1" u="sng">
                <a:solidFill>
                  <a:srgbClr val="2563EB"/>
                </a:solidFill>
                <a:hlinkClick r:id="rId4"/>
              </a:rPr>
              <a:t>DOI: https://doi.org/10.1016/j.measurement.2021.110094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Approach &amp; Finding: Converts vibration waveforms into 2D time-frequency spectrograms and trains CNN classifiers. Achieves &gt;92% classification accuracy by extracting 2D harmonic and broadband turbulence features.</a:t>
            </a:r>
          </a:p>
          <a:p>
            <a:pPr>
              <a:spcBef>
                <a:spcPts val="200"/>
              </a:spcBef>
              <a:defRPr sz="900" b="1">
                <a:solidFill>
                  <a:srgbClr val="B91C1C"/>
                </a:solidFill>
              </a:defRPr>
            </a:pPr>
            <a:r>
              <a:t>• Research Limitation: Tested on high-power GPU workstations with cloud streaming; no sub-watt TinyML microcontroller deployment, int8 quantization, or edge shutoff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BACSE291 | INNOVATIVE DESIGN PROJECT | REVIEW II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Challenges &amp; Identified 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Identified Technical Challenges</a:t>
            </a:r>
          </a:p>
          <a:p>
            <a:pPr>
              <a:spcBef>
                <a:spcPts val="700"/>
              </a:spcBef>
              <a:defRPr sz="1000" b="1">
                <a:solidFill>
                  <a:srgbClr val="0F172A"/>
                </a:solidFill>
              </a:defRPr>
            </a:pPr>
            <a:r>
              <a:t>• Acoustic Impedance Mismatch: </a:t>
            </a:r>
            <a:r>
              <a:rPr b="0">
                <a:solidFill>
                  <a:srgbClr val="64748B"/>
                </a:solidFill>
              </a:rPr>
              <a:t>Airborne microphones (like standard MEMS) clamped to pipe exteriors capture room speech and ambient noise rather than fluid structural vibrations.</a:t>
            </a:r>
          </a:p>
          <a:p>
            <a:pPr>
              <a:spcBef>
                <a:spcPts val="700"/>
              </a:spcBef>
              <a:defRPr sz="1000" b="1">
                <a:solidFill>
                  <a:srgbClr val="0F172A"/>
                </a:solidFill>
              </a:defRPr>
            </a:pPr>
            <a:r>
              <a:t>• Edge Computational Constraints: </a:t>
            </a:r>
            <a:r>
              <a:rPr b="0">
                <a:solidFill>
                  <a:srgbClr val="64748B"/>
                </a:solidFill>
              </a:rPr>
              <a:t>Standard microcontrollers lack RAM/compute for heavy audio models; running inference requires strict int8 quantization and efficient DSP framing.</a:t>
            </a:r>
          </a:p>
          <a:p>
            <a:pPr>
              <a:spcBef>
                <a:spcPts val="700"/>
              </a:spcBef>
              <a:defRPr sz="1000" b="1">
                <a:solidFill>
                  <a:srgbClr val="0F172A"/>
                </a:solidFill>
              </a:defRPr>
            </a:pPr>
            <a:r>
              <a:t>• Physical Sound Velocity Realities: </a:t>
            </a:r>
            <a:r>
              <a:rPr b="0">
                <a:solidFill>
                  <a:srgbClr val="64748B"/>
                </a:solidFill>
              </a:rPr>
              <a:t>Sound in water travels at ~1,480 m/s (6.7 ms per 10m). Naive Wi-Fi/NTP clock subtraction suffers 10-50ms jitter, demanding frequency-domain cross-correlation.</a:t>
            </a:r>
          </a:p>
          <a:p>
            <a:pPr>
              <a:spcBef>
                <a:spcPts val="700"/>
              </a:spcBef>
              <a:defRPr sz="1000" b="1">
                <a:solidFill>
                  <a:srgbClr val="0F172A"/>
                </a:solidFill>
              </a:defRPr>
            </a:pPr>
            <a:r>
              <a:t>• Network Outage Vulnerability: </a:t>
            </a:r>
            <a:r>
              <a:rPr b="0">
                <a:solidFill>
                  <a:srgbClr val="64748B"/>
                </a:solidFill>
              </a:rPr>
              <a:t>Cloud-dependent architectures fail to isolate leaks during connectivity dropouts, leading to continuous flooding.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4572000" cy="42976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The Research Gap Our Project Bridges</a:t>
            </a:r>
          </a:p>
          <a:p>
            <a:pPr>
              <a:spcBef>
                <a:spcPts val="700"/>
              </a:spcBef>
              <a:defRPr sz="1000" b="1">
                <a:solidFill>
                  <a:srgbClr val="0F172A"/>
                </a:solidFill>
              </a:defRPr>
            </a:pPr>
            <a:r>
              <a:t>✔ Ultra-Low Cost Accessibility (&lt;₹2,500): </a:t>
            </a:r>
            <a:r>
              <a:rPr b="0">
                <a:solidFill>
                  <a:srgbClr val="64748B"/>
                </a:solidFill>
              </a:rPr>
              <a:t>Bridging the massive price chasm between inaccessible ₹1,00,000+ proprietary industrial loggers and basic non-intelligent sensors.</a:t>
            </a:r>
          </a:p>
          <a:p>
            <a:pPr>
              <a:spcBef>
                <a:spcPts val="700"/>
              </a:spcBef>
              <a:defRPr sz="1000" b="1">
                <a:solidFill>
                  <a:srgbClr val="0F172A"/>
                </a:solidFill>
              </a:defRPr>
            </a:pPr>
            <a:r>
              <a:t>✔ Non-Invasive Structural Coupling: </a:t>
            </a:r>
            <a:r>
              <a:rPr b="0">
                <a:solidFill>
                  <a:srgbClr val="64748B"/>
                </a:solidFill>
              </a:rPr>
              <a:t>Engineering a contact piezoelectric interface with charge amplification that senses pipe turbulence without pipe drilling or fluid contamination.</a:t>
            </a:r>
          </a:p>
          <a:p>
            <a:pPr>
              <a:spcBef>
                <a:spcPts val="700"/>
              </a:spcBef>
              <a:defRPr sz="1000" b="1">
                <a:solidFill>
                  <a:srgbClr val="0F172A"/>
                </a:solidFill>
              </a:defRPr>
            </a:pPr>
            <a:r>
              <a:t>✔ True Edge AI Autonomy (TinyML): </a:t>
            </a:r>
            <a:r>
              <a:rPr b="0">
                <a:solidFill>
                  <a:srgbClr val="64748B"/>
                </a:solidFill>
              </a:rPr>
              <a:t>Quantized CNN running 100% on-device (ESP32-S3), achieving sub-200ms classification of micro-leaks vs. normal flow vs. room noise.</a:t>
            </a:r>
          </a:p>
          <a:p>
            <a:pPr>
              <a:spcBef>
                <a:spcPts val="700"/>
              </a:spcBef>
              <a:defRPr sz="1000" b="1">
                <a:solidFill>
                  <a:srgbClr val="0F172A"/>
                </a:solidFill>
              </a:defRPr>
            </a:pPr>
            <a:r>
              <a:t>✔ Integrated Mechanical Actuation: </a:t>
            </a:r>
            <a:r>
              <a:rPr b="0">
                <a:solidFill>
                  <a:srgbClr val="64748B"/>
                </a:solidFill>
              </a:rPr>
              <a:t>Closing the loop between detection and mitigation: immediate sub-second motorized shutoff before structural damage occurs.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BACSE291 | INNOVATIVE DESIGN PROJECT | REVIEW II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Project Objectives &amp; Scope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1. Non-Invasive Sensing Hardware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Design a non-intrusive clamp-on sensor unit using contact piezoelectric transducers paired with an LM358 active charge amplifier and &gt;500 Hz high-pass analog filter to isolate pipe vibration.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2. Embedded DSP Feature Extraction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Implement an onboard 16 kHz sampling and signal processing pipeline generating 2D Log-Mel Spectrograms tuned specifically to 1–8 kHz fluid turbulence frequencies.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3. Edge AI (TinyML) Classification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Train, post-training quantize (int8), and execute a lightweight CNN on the ESP32-S3 via TFLite Micro, targeting &gt;90% classification accuracy with &lt;200ms latency and &lt;64KB SRAM usage.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4. Autonomous Fail-Safe Actuation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Interface a 5V optoisolated relay module to trigger a 12V motorized solenoid shutoff valve within 1 second of confirmed leak classification without needing cloud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5. Low-Bandwidth Wireless Telemetry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Transmit lightweight MQTT JSON event packets over Wi-Fi only upon state transitions, achieving &gt;99% bandwidth savings over raw audio streaming.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BACSE291 | INNOVATIVE DESIGN PROJECT | REVIEW II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Proposed Methodology &amp; System Architecture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0"/>
            <a:ext cx="10972800" cy="54374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BACSE291 | INNOVATIVE DESIGN PROJECT | REVIEW II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Results: Initial Implementation (~20% Completion Milestone)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20% Prototype Deliverables Completed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✔ 16 kHz Audio DMA Sampling Pipeline: </a:t>
            </a:r>
            <a:r>
              <a:rPr b="0">
                <a:solidFill>
                  <a:srgbClr val="64748B"/>
                </a:solidFill>
              </a:rPr>
              <a:t>Implemented circular double buffering and Hanning windowing to ingest continuous structural acoustic vibrations on ESP32 Core 0.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✔ Real-Time Log-Mel Spectrogram Engine: </a:t>
            </a:r>
            <a:r>
              <a:rPr b="0">
                <a:solidFill>
                  <a:srgbClr val="64748B"/>
                </a:solidFill>
              </a:rPr>
              <a:t>Engineered 32-band filterbank conversion scaled to 0.5–8 kHz fluid turbulence frequencies, generating 2D feature maps.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✔ Empirical Spectral Energy Elevation: </a:t>
            </a:r>
            <a:r>
              <a:rPr b="0">
                <a:solidFill>
                  <a:srgbClr val="64748B"/>
                </a:solidFill>
              </a:rPr>
              <a:t>Experimental frequency sweeps confirm &gt;30 dB spectral density surge in 1.5–4.5 kHz band during needle-valve micro-cracks vs. laminar flow.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✔ Dual-Core FreeRTOS Task Architecture: </a:t>
            </a:r>
            <a:r>
              <a:rPr b="0">
                <a:solidFill>
                  <a:srgbClr val="64748B"/>
                </a:solidFill>
              </a:rPr>
              <a:t>Decoupled sampling/DSP (Core 0) from TinyML inference and actuation state machines (Core 1).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✔ Sub-Second Solenoid Shutoff Logic: </a:t>
            </a:r>
            <a:r>
              <a:rPr b="0">
                <a:solidFill>
                  <a:srgbClr val="64748B"/>
                </a:solidFill>
              </a:rPr>
              <a:t>Validated fail-safe GPIO relay trigger executing in &lt;50ms upon simulated anomaly condition.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Empirical Proof: Laminar Flow vs. Micro-Leak Turbulence</a:t>
            </a:r>
          </a:p>
        </p:txBody>
      </p:sp>
      <p:pic>
        <p:nvPicPr>
          <p:cNvPr id="8" name="Picture 7" descr="spectr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21208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48463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Spectrogram Feature Verification: Notice the prominent energy surge (yellow/orange bands) across 1.5–5 kHz in the right plot, reflecting continuous hydrodynamic turbulence used as the input tensor for our TinyML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